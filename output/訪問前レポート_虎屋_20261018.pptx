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48640" y="3246120"/>
            <a:ext cx="1097280" cy="73152"/>
          </a:xfrm>
          <a:prstGeom prst="rect">
            <a:avLst/>
          </a:prstGeom>
          <a:solidFill>
            <a:srgbClr val="3A9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1094415" cy="146304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spcAft>
                <a:spcPts val="1600"/>
              </a:spcAft>
            </a:pPr>
            <a:r>
              <a:rPr sz="4000" b="1">
                <a:solidFill>
                  <a:srgbClr val="FFFFFF"/>
                </a:solidFill>
                <a:latin typeface="Meiryo"/>
              </a:rPr>
              <a:t>虎屋 訪問前レポート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520440"/>
            <a:ext cx="11094415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000" b="0">
                <a:solidFill>
                  <a:srgbClr val="FFFFFF"/>
                </a:solidFill>
                <a:latin typeface="Meiryo"/>
              </a:rPr>
              <a:t>産業廃棄物の処理受託に向けた事前調査｜訪問拠点：御殿場工場（静岡県御殿場市印野1581）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CDE3D4"/>
                </a:solidFill>
                <a:latin typeface="Meiryo"/>
              </a:rPr>
              <a:t>2026-10-18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0"/>
            <a:ext cx="1109441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40"/>
              </a:spcAft>
            </a:pPr>
            <a:r>
              <a:rPr sz="2600" b="1">
                <a:solidFill>
                  <a:srgbClr val="FFFFFF"/>
                </a:solidFill>
                <a:latin typeface="Meiryo"/>
              </a:rPr>
              <a:t>訪問サマリー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3A9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eiryo"/>
              </a:rPr>
              <a:t>社内用（営業担当者向け）｜相手企業に渡さないこと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eiryo"/>
              </a:rPr>
              <a:t>2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325880"/>
            <a:ext cx="3515258" cy="3291840"/>
          </a:xfrm>
          <a:prstGeom prst="rect">
            <a:avLst/>
          </a:prstGeom>
          <a:solidFill>
            <a:srgbClr val="F1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325880"/>
            <a:ext cx="3515258" cy="73152"/>
          </a:xfrm>
          <a:prstGeom prst="rect">
            <a:avLst/>
          </a:prstGeom>
          <a:solidFill>
            <a:srgbClr val="3A9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54480"/>
            <a:ext cx="314949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20"/>
              </a:spcAft>
            </a:pPr>
            <a:r>
              <a:rPr sz="1800" b="1">
                <a:solidFill>
                  <a:srgbClr val="1E5E3B"/>
                </a:solidFill>
                <a:latin typeface="Meiryo"/>
              </a:rPr>
              <a:t>どんな会社か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48840"/>
            <a:ext cx="3149498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626"/>
                </a:solidFill>
                <a:latin typeface="Meiryo"/>
              </a:rPr>
              <a:t>和菓子「とらや」の株式会社虎屋。訪問先の御殿場工場は羊羹・最中などを製造し、製餡も担う。虎屋の約7割の商品を製造する主力工場である。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38218" y="1325880"/>
            <a:ext cx="3515258" cy="3291840"/>
          </a:xfrm>
          <a:prstGeom prst="rect">
            <a:avLst/>
          </a:prstGeom>
          <a:solidFill>
            <a:srgbClr val="F1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38218" y="1325880"/>
            <a:ext cx="3515258" cy="73152"/>
          </a:xfrm>
          <a:prstGeom prst="rect">
            <a:avLst/>
          </a:prstGeom>
          <a:solidFill>
            <a:srgbClr val="3A9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1098" y="1554480"/>
            <a:ext cx="314949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20"/>
              </a:spcAft>
            </a:pPr>
            <a:r>
              <a:rPr sz="1800" b="1">
                <a:solidFill>
                  <a:srgbClr val="1E5E3B"/>
                </a:solidFill>
                <a:latin typeface="Meiryo"/>
              </a:rPr>
              <a:t>想定される廃棄物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1098" y="2148840"/>
            <a:ext cx="3149498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626"/>
                </a:solidFill>
                <a:latin typeface="Meiryo"/>
              </a:rPr>
              <a:t>動植物性残さ・廃プラスチック類など9種類（公表情報あり0／業種から推定4／要ヒアリング5）。検査廃液は特管の可能性がある。小豆の皮は有価売却のため除く。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27796" y="1325880"/>
            <a:ext cx="3515258" cy="3291840"/>
          </a:xfrm>
          <a:prstGeom prst="rect">
            <a:avLst/>
          </a:prstGeom>
          <a:solidFill>
            <a:srgbClr val="F1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27796" y="1325880"/>
            <a:ext cx="3515258" cy="73152"/>
          </a:xfrm>
          <a:prstGeom prst="rect">
            <a:avLst/>
          </a:prstGeom>
          <a:solidFill>
            <a:srgbClr val="3A9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10676" y="1554480"/>
            <a:ext cx="3149498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720"/>
              </a:spcAft>
            </a:pPr>
            <a:r>
              <a:rPr sz="1800" b="1">
                <a:solidFill>
                  <a:srgbClr val="1E5E3B"/>
                </a:solidFill>
                <a:latin typeface="Meiryo"/>
              </a:rPr>
              <a:t>最有力の提案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10676" y="2148840"/>
            <a:ext cx="3149498" cy="2286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262626"/>
                </a:solidFill>
                <a:latin typeface="Meiryo"/>
              </a:rPr>
              <a:t>小豆の皮の有価売却は維持し、それ以外を一括受託して窓口を一本化する。ISO14001（2001年取得、現状は要確認）を維持していれば、動植物性残さ・廃プラの再資源化で目標に貢献できる。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80"/>
              </a:spcAft>
            </a:pPr>
            <a:r>
              <a:rPr sz="1200" b="0">
                <a:solidFill>
                  <a:srgbClr val="666666"/>
                </a:solidFill>
                <a:latin typeface="Meiryo"/>
              </a:rPr>
              <a:t>※ 最初に確かめること：ISO14001の認証を現在も維持しているか、小豆の皮以外の食品残さの量と処理方法、製餡排水の処理設備（汚泥）の有無。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0"/>
            <a:ext cx="1109441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40"/>
              </a:spcAft>
            </a:pPr>
            <a:r>
              <a:rPr sz="2600" b="1">
                <a:solidFill>
                  <a:srgbClr val="FFFFFF"/>
                </a:solidFill>
                <a:latin typeface="Meiryo"/>
              </a:rPr>
              <a:t>企業概要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3A9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eiryo"/>
              </a:rPr>
              <a:t>社内用（営業担当者向け）｜相手企業に渡さないこと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eiryo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40"/>
              </a:spcAft>
            </a:pPr>
            <a:r>
              <a:rPr sz="1600" b="1">
                <a:solidFill>
                  <a:srgbClr val="1E5E3B"/>
                </a:solidFill>
                <a:latin typeface="Meiryo"/>
              </a:rPr>
              <a:t>室町時代後期に京都で創業した和菓子の製造・販売企業（直営店・喫茶も運営）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83080"/>
          <a:ext cx="6101928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5482"/>
                <a:gridCol w="4576446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</a:rPr>
                        <a:t>項目</a:t>
                      </a:r>
                    </a:p>
                  </a:txBody>
                  <a:tcPr marL="73152" marR="73152" marT="36576" marB="36576" anchor="ctr">
                    <a:solidFill>
                      <a:srgbClr val="1E5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</a:rPr>
                        <a:t>内容</a:t>
                      </a:r>
                    </a:p>
                  </a:txBody>
                  <a:tcPr marL="73152" marR="73152" marT="36576" marB="36576" anchor="ctr">
                    <a:solidFill>
                      <a:srgbClr val="1E5E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正式社名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株式会社 虎屋（代表取締役社長 黒川光晴）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本社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東京都港区赤坂4-9-22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訪問拠点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御殿場工場（静岡県御殿場市印野1581）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従業員数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860名（2025-09-01現在）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売上規模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約195億円（2024年度、求人サイトより）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業種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食料品製造業（和菓子の製造・販売）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環境認証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御殿場工場がISO14001取得（2001年。現在の維持は不明）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工場数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3工場（御殿場・東京・京都）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970608" y="1783080"/>
            <a:ext cx="4672446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40"/>
              </a:spcAft>
            </a:pPr>
            <a:r>
              <a:rPr sz="1600" b="1">
                <a:solidFill>
                  <a:srgbClr val="3A9D5D"/>
                </a:solidFill>
                <a:latin typeface="Meiryo"/>
              </a:rPr>
              <a:t>営業の着眼点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70608" y="2240280"/>
            <a:ext cx="4672446" cy="3749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・小豆の皮を飼料として有価売却している（評価する姿勢で触れる）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・燃料を灯油から都市ガスへ転換、高効率ボイラーを採用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・2009年に緑化優良工場等経済産業大臣賞を受賞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・窓口候補：本社の生産支援部・事務管理部、御殿場地区品質管理課（要確認）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・廃棄物の現在の委託先・多量排出事業者の公表情報は不明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0"/>
            <a:ext cx="1109441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40"/>
              </a:spcAft>
            </a:pPr>
            <a:r>
              <a:rPr sz="2600" b="1">
                <a:solidFill>
                  <a:srgbClr val="FFFFFF"/>
                </a:solidFill>
                <a:latin typeface="Meiryo"/>
              </a:rPr>
              <a:t>拠点と工程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3A9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eiryo"/>
              </a:rPr>
              <a:t>社内用（営業担当者向け）｜相手企業に渡さないこと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eiryo"/>
              </a:rPr>
              <a:t>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1094413" cy="31272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35866"/>
                <a:gridCol w="1426424"/>
                <a:gridCol w="3011341"/>
                <a:gridCol w="4120782"/>
              </a:tblGrid>
              <a:tr h="347472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</a:rPr>
                        <a:t>拠点名</a:t>
                      </a:r>
                    </a:p>
                  </a:txBody>
                  <a:tcPr marL="73152" marR="73152" marT="36576" marB="36576" anchor="ctr">
                    <a:solidFill>
                      <a:srgbClr val="1E5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</a:rPr>
                        <a:t>種類</a:t>
                      </a:r>
                    </a:p>
                  </a:txBody>
                  <a:tcPr marL="73152" marR="73152" marT="36576" marB="36576" anchor="ctr">
                    <a:solidFill>
                      <a:srgbClr val="1E5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</a:rPr>
                        <a:t>所在地</a:t>
                      </a:r>
                    </a:p>
                  </a:txBody>
                  <a:tcPr marL="73152" marR="73152" marT="36576" marB="36576" anchor="ctr">
                    <a:solidFill>
                      <a:srgbClr val="1E5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Meiryo"/>
                        </a:rPr>
                        <a:t>主な工程・設備</a:t>
                      </a:r>
                    </a:p>
                  </a:txBody>
                  <a:tcPr marL="73152" marR="73152" marT="36576" marB="36576" anchor="ctr">
                    <a:solidFill>
                      <a:srgbClr val="1E5E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御殿場工場（訪問拠点）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工場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静岡県御殿場市印野1581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製餡、羊羹・最中・水羊羹・煉菓子の製造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（御殿場工場の設備）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設備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同上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蒸気ボイラー（都市ガス）、自社開発の煉り機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（御殿場工場の付帯）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工程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同上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包装・箱詰め（手・機械）、品質検査、社員食堂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東京工場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工場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東京都港区元赤坂1-5-8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生菓子・焼菓子の製造（餡は御殿場から）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京都工場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工場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京都府南丹市八木町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羊羹・最中・焼菓子の製造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虎屋菓寮 御殿場店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店舗・喫茶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静岡県御殿場市新橋728-1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販売・喫茶（御殿場工場の品管が管轄）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とらや工房（虎玄運営）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店舗・喫茶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静岡県御殿場市東山1022-1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販売・喫茶（契約主体は株式会社虎玄）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本社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本社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東京都港区赤坂4-9-22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262626"/>
                          </a:solidFill>
                          <a:latin typeface="Meiryo"/>
                        </a:rPr>
                        <a:t>本社機構（生産支援部・事務管理部など）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80"/>
              </a:spcAft>
            </a:pPr>
            <a:r>
              <a:rPr sz="1200" b="0">
                <a:solidFill>
                  <a:srgbClr val="666666"/>
                </a:solidFill>
                <a:latin typeface="Meiryo"/>
              </a:rPr>
              <a:t>※ 御殿場工場の敷地面積・従業員数、排水処理設備・冷凍冷蔵設備・薬品・潤滑油の使用は不明。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0"/>
            <a:ext cx="1109441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40"/>
              </a:spcAft>
            </a:pPr>
            <a:r>
              <a:rPr sz="2600" b="1">
                <a:solidFill>
                  <a:srgbClr val="FFFFFF"/>
                </a:solidFill>
                <a:latin typeface="Meiryo"/>
              </a:rPr>
              <a:t>推定される廃棄物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3A9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eiryo"/>
              </a:rPr>
              <a:t>社内用（営業担当者向け）｜相手企業に渡さないこと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eiryo"/>
              </a:rPr>
              <a:t>5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1094412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49018"/>
                <a:gridCol w="3148415"/>
                <a:gridCol w="2998490"/>
                <a:gridCol w="1349320"/>
                <a:gridCol w="1649169"/>
              </a:tblGrid>
              <a:tr h="347472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法定区分</a:t>
                      </a:r>
                    </a:p>
                  </a:txBody>
                  <a:tcPr marL="73152" marR="73152" marT="36576" marB="36576" anchor="ctr">
                    <a:solidFill>
                      <a:srgbClr val="1E5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具体例</a:t>
                      </a:r>
                    </a:p>
                  </a:txBody>
                  <a:tcPr marL="73152" marR="73152" marT="36576" marB="36576" anchor="ctr">
                    <a:solidFill>
                      <a:srgbClr val="1E5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発生源</a:t>
                      </a:r>
                    </a:p>
                  </a:txBody>
                  <a:tcPr marL="73152" marR="73152" marT="36576" marB="36576" anchor="ctr">
                    <a:solidFill>
                      <a:srgbClr val="1E5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特管</a:t>
                      </a:r>
                    </a:p>
                  </a:txBody>
                  <a:tcPr marL="73152" marR="73152" marT="36576" marB="36576" anchor="ctr">
                    <a:solidFill>
                      <a:srgbClr val="1E5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"/>
                        </a:rPr>
                        <a:t>確度</a:t>
                      </a:r>
                    </a:p>
                  </a:txBody>
                  <a:tcPr marL="73152" marR="73152" marT="36576" marB="36576" anchor="ctr">
                    <a:solidFill>
                      <a:srgbClr val="1E5E3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動植物性残さ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餡・羊羹の不良品、寒天くず、最中の皮くず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製餡・羊羹の煉り・型出し・最中製造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－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B9770E"/>
                          </a:solidFill>
                          <a:latin typeface="Meiryo"/>
                        </a:rPr>
                        <a:t>業種から推定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廃プラスチック類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個包装フィルム・包材ロス、原材料の樹脂袋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包装・箱詰め、原材料の受け入れ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－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B9770E"/>
                          </a:solidFill>
                          <a:latin typeface="Meiryo"/>
                        </a:rPr>
                        <a:t>業種から推定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金属くず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資材の金属缶、器具（釜・枠型）の更新品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製造設備・器具、梱包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－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B9770E"/>
                          </a:solidFill>
                          <a:latin typeface="Meiryo"/>
                        </a:rPr>
                        <a:t>業種から推定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廃酸・廃アルカリ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検査試薬の廃液（理化学検査・機器分析）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品質管理（御殿場地区品質管理課）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○（pHによる）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B9770E"/>
                          </a:solidFill>
                          <a:latin typeface="Meiryo"/>
                        </a:rPr>
                        <a:t>業種から推定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汚泥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製餡・洗浄排水の脱水汚泥、食堂の油泥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排水処理設備（有無不明）、社員食堂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－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0392B"/>
                          </a:solidFill>
                          <a:latin typeface="Meiryo"/>
                        </a:rPr>
                        <a:t>要ヒアリング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廃酸・廃アルカリ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設備洗浄液の廃液、ボイラー薬品の廃液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生産ラインの洗浄、蒸気ボイラー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○（pHによる）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0392B"/>
                          </a:solidFill>
                          <a:latin typeface="Meiryo"/>
                        </a:rPr>
                        <a:t>要ヒアリング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廃油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潤滑油・作動油、廃食用油、旧灯油タンク残油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製造機械、社員食堂、旧燃料設備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○（引火性の場合）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0392B"/>
                          </a:solidFill>
                          <a:latin typeface="Meiryo"/>
                        </a:rPr>
                        <a:t>要ヒアリング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木くず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原材料納入・出荷の木製パレット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原材料の受け入れ・出荷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－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0392B"/>
                          </a:solidFill>
                          <a:latin typeface="Meiryo"/>
                        </a:rPr>
                        <a:t>要ヒアリング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水銀使用製品産業廃棄物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蛍光管、水銀灯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工場・事務所・倉庫の照明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62626"/>
                          </a:solidFill>
                          <a:latin typeface="Meiryo"/>
                        </a:rPr>
                        <a:t>－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C0392B"/>
                          </a:solidFill>
                          <a:latin typeface="Meiryo"/>
                        </a:rPr>
                        <a:t>要ヒアリング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80"/>
              </a:spcAft>
            </a:pPr>
            <a:r>
              <a:rPr sz="1200" b="0">
                <a:solidFill>
                  <a:srgbClr val="666666"/>
                </a:solidFill>
                <a:latin typeface="Meiryo"/>
              </a:rPr>
              <a:t>※ 確度：公表情報あり＝公表資料に記載／業種から推定＝工程から推定／要ヒアリング＝工程・設備が未確認。小豆の皮は有価売却のため対象外。紙ごみ・段ボール・杉箱端材・生ごみは事業系一般廃棄物の可能性（自社対象外）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0"/>
            <a:ext cx="1109441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40"/>
              </a:spcAft>
            </a:pPr>
            <a:r>
              <a:rPr sz="2600" b="1">
                <a:solidFill>
                  <a:srgbClr val="FFFFFF"/>
                </a:solidFill>
                <a:latin typeface="Meiryo"/>
              </a:rPr>
              <a:t>提案するサービス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3A9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eiryo"/>
              </a:rPr>
              <a:t>社内用（営業担当者向け）｜相手企業に渡さないこと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eiryo"/>
              </a:rPr>
              <a:t>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325880"/>
          <a:ext cx="11094412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29895"/>
                <a:gridCol w="2919582"/>
                <a:gridCol w="2773603"/>
                <a:gridCol w="4671332"/>
              </a:tblGrid>
              <a:tr h="411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</a:rPr>
                        <a:t>優先</a:t>
                      </a:r>
                    </a:p>
                  </a:txBody>
                  <a:tcPr marL="73152" marR="73152" marT="36576" marB="36576" anchor="ctr">
                    <a:solidFill>
                      <a:srgbClr val="1E5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</a:rPr>
                        <a:t>サービス</a:t>
                      </a:r>
                    </a:p>
                  </a:txBody>
                  <a:tcPr marL="73152" marR="73152" marT="36576" marB="36576" anchor="ctr">
                    <a:solidFill>
                      <a:srgbClr val="1E5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</a:rPr>
                        <a:t>対象の廃棄物</a:t>
                      </a:r>
                    </a:p>
                  </a:txBody>
                  <a:tcPr marL="73152" marR="73152" marT="36576" marB="36576" anchor="ctr">
                    <a:solidFill>
                      <a:srgbClr val="1E5E3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Meiryo"/>
                        </a:rPr>
                        <a:t>相手にとっての利点</a:t>
                      </a:r>
                    </a:p>
                  </a:txBody>
                  <a:tcPr marL="73152" marR="73152" marT="36576" marB="36576" anchor="ctr">
                    <a:solidFill>
                      <a:srgbClr val="1E5E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Meiryo"/>
                        </a:rPr>
                        <a:t>1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Meiryo"/>
                        </a:rPr>
                        <a:t>一括受託（窓口の一本化）＋定期回収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Meiryo"/>
                        </a:rPr>
                        <a:t>推定した9種類すべて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Meiryo"/>
                        </a:rPr>
                        <a:t>管理を1社に集約。食品残さを長く置かず衛生負担減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Meiryo"/>
                        </a:rPr>
                        <a:t>2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Meiryo"/>
                        </a:rPr>
                        <a:t>リサイクル（再資源化）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Meiryo"/>
                        </a:rPr>
                        <a:t>動植物性残さ、廃プラ、金属くず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Meiryo"/>
                        </a:rPr>
                        <a:t>小豆の皮以外も再資源化。ISO14001を維持していれば目標に上乗せ</a:t>
                      </a:r>
                    </a:p>
                  </a:txBody>
                  <a:tcPr marL="73152" marR="73152" marT="36576" marB="36576" anchor="ctr">
                    <a:solidFill>
                      <a:srgbClr val="F1F6F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Meiryo"/>
                        </a:rPr>
                        <a:t>3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Meiryo"/>
                        </a:rPr>
                        <a:t>特別管理産業廃棄物の処理＋スポット回収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Meiryo"/>
                        </a:rPr>
                        <a:t>検査廃液、洗浄廃液、廃油、蛍光管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62626"/>
                          </a:solidFill>
                          <a:latin typeface="Meiryo"/>
                        </a:rPr>
                        <a:t>特管の廃液や設備撤去など突発分も同じ窓口で対応</a:t>
                      </a:r>
                    </a:p>
                  </a:txBody>
                  <a:tcPr marL="73152" marR="73152" marT="36576" marB="36576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80"/>
              </a:spcAft>
            </a:pPr>
            <a:r>
              <a:rPr sz="1200" b="0">
                <a:solidFill>
                  <a:srgbClr val="666666"/>
                </a:solidFill>
                <a:latin typeface="Meiryo"/>
              </a:rPr>
              <a:t>※ 再資源化の具体的なルート（飼料化・堆肥化・メタン発酵など）は、性状と量を聞いたうえで訪問後に検討する。価格は訪問後に見積もる。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0"/>
            <a:ext cx="1109441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40"/>
              </a:spcAft>
            </a:pPr>
            <a:r>
              <a:rPr sz="2600" b="1">
                <a:solidFill>
                  <a:srgbClr val="FFFFFF"/>
                </a:solidFill>
                <a:latin typeface="Meiryo"/>
              </a:rPr>
              <a:t>ヒアリング項目と訪問時の注意点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3A9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eiryo"/>
              </a:rPr>
              <a:t>社内用（営業担当者向け）｜相手企業に渡さないこと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eiryo"/>
              </a:rPr>
              <a:t>7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234440"/>
            <a:ext cx="5364327" cy="457200"/>
          </a:xfrm>
          <a:prstGeom prst="rect">
            <a:avLst/>
          </a:prstGeom>
          <a:solidFill>
            <a:srgbClr val="3A9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234440"/>
            <a:ext cx="536432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20"/>
              </a:spcAft>
            </a:pPr>
            <a:r>
              <a:rPr sz="1800" b="1">
                <a:solidFill>
                  <a:srgbClr val="FFFFFF"/>
                </a:solidFill>
                <a:latin typeface="Meiryo"/>
              </a:rPr>
              <a:t>ヒアリング項目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28800"/>
            <a:ext cx="5364327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・ISO14001の認証の維持（まず現状を確認）と廃棄物目標、回収頻度・臭気の困りごと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・小豆の皮以外の食品残さ（不良品・寒天くず等）の量と処理方法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・返品・期限切れ品の処分方法と、中身と包材の分別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・製餡・洗浄排水の処理設備の有無と汚泥の量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・包材・原材料袋の素材、包材ロスの量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・検査試薬・洗浄薬品の種類と廃液の扱い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・潤滑油・旧灯油タンク、木製パレット、照明のLED化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・委託先の数、契約・マニフェストの管理部署（工場か本社か）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8727" y="1234440"/>
            <a:ext cx="5364327" cy="457200"/>
          </a:xfrm>
          <a:prstGeom prst="rect">
            <a:avLst/>
          </a:prstGeom>
          <a:solidFill>
            <a:srgbClr val="3A9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5887" y="1234440"/>
            <a:ext cx="5364327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720"/>
              </a:spcAft>
            </a:pPr>
            <a:r>
              <a:rPr sz="1800" b="1">
                <a:solidFill>
                  <a:srgbClr val="FFFFFF"/>
                </a:solidFill>
                <a:latin typeface="Meiryo"/>
              </a:rPr>
              <a:t>訪問時の注意点と最近の動き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1828800"/>
            <a:ext cx="5364327" cy="4160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・小豆の皮の有価売却は評価し、置き換えを持ちかけない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・現在の委託先を否定せず、法令違反を断定しない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・価格はその場で示さず、見積もりは訪問後に行う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・紙ごみ・生ごみ・杉箱等は一般廃棄物の可能性。許可範囲を確認してから回答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・返品・不良品はブランド保護の確実な処分が関心事になりうる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・とらや工房は虎玄の運営で契約主体が異なる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・構内の衛生（動線・車両・時間帯）への配慮を伝える</a:t>
            </a:r>
          </a:p>
          <a:p>
            <a:pPr algn="l">
              <a:spcAft>
                <a:spcPts val="640"/>
              </a:spcAft>
            </a:pPr>
            <a:r>
              <a:rPr sz="1600" b="0">
                <a:solidFill>
                  <a:srgbClr val="262626"/>
                </a:solidFill>
                <a:latin typeface="Meiryo"/>
              </a:rPr>
              <a:t>・最近の動き：2026-07-09 小形羊羹の限定販売。工場の増設ニュースはなし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5E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0"/>
            <a:ext cx="1109441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040"/>
              </a:spcAft>
            </a:pPr>
            <a:r>
              <a:rPr sz="2600" b="1">
                <a:solidFill>
                  <a:srgbClr val="FFFFFF"/>
                </a:solidFill>
                <a:latin typeface="Meiryo"/>
              </a:rPr>
              <a:t>出典一覧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960120"/>
            <a:ext cx="12191695" cy="54864"/>
          </a:xfrm>
          <a:prstGeom prst="rect">
            <a:avLst/>
          </a:prstGeom>
          <a:solidFill>
            <a:srgbClr val="3A9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9144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eiryo"/>
              </a:rPr>
              <a:t>社内用（営業担当者向け）｜相手企業に渡さないこと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0080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1000" b="0">
                <a:solidFill>
                  <a:srgbClr val="666666"/>
                </a:solidFill>
                <a:latin typeface="Meiryo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234440"/>
            <a:ext cx="5410047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Meiryo"/>
              </a:rPr>
              <a:t>[1] 会社概要｜株式会社 虎屋 - https://www.toraya-group.co.jp/corporate/profile（確認日 2026-10-18）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Meiryo"/>
              </a:rPr>
              <a:t>[2] 虎屋のものづくり｜企業としての取り組み｜株式会社 虎屋 - https://www.toraya-group.co.jp/corporate/csr/manufacturing（確認日 2026-10-18）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Meiryo"/>
              </a:rPr>
              <a:t>[3] 年表｜株式会社 虎屋 - https://www.toraya-group.co.jp/corporate/chronology（確認日 2026-10-18）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Meiryo"/>
              </a:rPr>
              <a:t>[4] 虎屋の仕事 製造（2014年入社・東京工場）｜虎屋 採用情報 - https://recruit.toraya-group.co.jp/business/jobs/e%e3%83%bba/（確認日 2026-10-18）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Meiryo"/>
              </a:rPr>
              <a:t>[5] 虎屋の仕事 製造（2020年入社・御殿場工場）｜虎屋 採用情報 - https://recruit.toraya-group.co.jp/business/jobs/k%e3%83%bbe/（確認日 2026-10-18）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Meiryo"/>
              </a:rPr>
              <a:t>[6] 虎屋の仕事 品質管理（2019年入社）｜虎屋 採用情報 - https://recruit.toraya-group.co.jp/business/jobs/n%e3%83%bbr/（確認日 2026-10-18）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Meiryo"/>
              </a:rPr>
              <a:t>[7] 株式会社虎屋 御殿場工場 の求人｜Indeed（スニペットより） - https://jp.indeed.com/q-%e6%a0%aa%e5%bc%8f%e4%bc%9a%e7%a4%be%e8%99%8e%e5%b1%8b%e3%80%80%e5%be%a1%e6%ae%bf%e5%a0%b4%e5%b7%a5%e5%a0%b4-%e6%b1%82%e4%ba%ba.html（確認日 2026-10-18）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Meiryo"/>
              </a:rPr>
              <a:t>[8] プレスリリース｜株式会社 虎屋 - https://www.toraya-group.co.jp/corporate/press_release（確認日 2026-10-18）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Meiryo"/>
              </a:rPr>
              <a:t>[9] 原材料へのこだわり｜企業としての取り組み｜株式会社 虎屋 - https://www.toraya-group.co.jp/corporate/csr/ingredients（確認日 2026-10-18）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33007" y="1234440"/>
            <a:ext cx="5410047" cy="4754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Meiryo"/>
              </a:rPr>
              <a:t>[10] 羊羹の賞味期限について｜とらや - https://toraya-group.co.jp/products/best_before_date（確認日 2026-10-18）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Meiryo"/>
              </a:rPr>
              <a:t>[11] 株式会社虎屋の法人番号｜houjin.jp（スニペットより） - https://houjin.jp/c/2010401020081（確認日 2026-10-18）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Meiryo"/>
              </a:rPr>
              <a:t>[12] (株)虎屋 会社概要｜マイナビ2028（スニペットより） - https://job.mynavi.jp/28/pc/search/corp4528/outline.html（確認日 2026-10-18）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Meiryo"/>
              </a:rPr>
              <a:t>[13] とらや 御殿場店｜るるぶ&amp;more.（スニペットより） - https://rurubu.jp/andmore/spot/80022608（確認日 2026-10-18）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Meiryo"/>
              </a:rPr>
              <a:t>[14] 優秀賞(静岡県建築士会賞) 森の隠れカフェ「とらや工房」｜静岡県 - https://www.pref.shizuoka.jp/machizukuri/keikan/keikanshou/1003607/1044064/1042362.html（確認日 2026-10-18）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Meiryo"/>
              </a:rPr>
              <a:t>[15] 虎屋の仕事 流通（2018年入社）｜虎屋 採用情報 - https://recruit.toraya-group.co.jp/business/jobs/k%e3%83%bby/（確認日 2026-10-18）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Meiryo"/>
              </a:rPr>
              <a:t>[16] とらや 商品一覧｜高島屋オンラインストア（スニペットより） - https://www.takashimaya.co.jp/shopping/food/0400001458/（確認日 2026-10-18）</a:t>
            </a:r>
          </a:p>
          <a:p>
            <a:pPr algn="l">
              <a:spcAft>
                <a:spcPts val="400"/>
              </a:spcAft>
            </a:pPr>
            <a:r>
              <a:rPr sz="1000" b="0">
                <a:solidFill>
                  <a:srgbClr val="262626"/>
                </a:solidFill>
                <a:latin typeface="Meiryo"/>
              </a:rPr>
              <a:t>[17] 多量排出事業者による産業廃棄物処理計画書等の公表｜静岡県 - https://www.pref.shizuoka.jp/kurashikankyo/recycle/sangyohaikibutsu/1049467/1077669.html（確認日 2026-10-18）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